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9"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4" userDrawn="1">
          <p15:clr>
            <a:srgbClr val="A4A3A4"/>
          </p15:clr>
        </p15:guide>
        <p15:guide id="2" pos="384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astsea" initials="V" lastIdx="0" clrIdx="0"/>
  <p:cmAuthor id="2" name="安琪"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44"/>
        <p:guide pos="384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ableStyles" Target="tableStyles.xml"/><Relationship Id="rId8"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 Id="rId5" Type="http://schemas.openxmlformats.org/officeDocument/2006/relationships/tags" Target="../tags/tag4.xml"/><Relationship Id="rId6" Type="http://schemas.openxmlformats.org/officeDocument/2006/relationships/tags" Target="../tags/tag5.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1.xml"/><Relationship Id="rId3" Type="http://schemas.openxmlformats.org/officeDocument/2006/relationships/tags" Target="../tags/tag12.xml"/><Relationship Id="rId4" Type="http://schemas.openxmlformats.org/officeDocument/2006/relationships/tags" Target="../tags/tag13.xml"/><Relationship Id="rId5" Type="http://schemas.openxmlformats.org/officeDocument/2006/relationships/tags" Target="../tags/tag14.xml"/><Relationship Id="rId6" Type="http://schemas.openxmlformats.org/officeDocument/2006/relationships/tags" Target="../tags/tag15.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6.xml"/><Relationship Id="rId3" Type="http://schemas.openxmlformats.org/officeDocument/2006/relationships/tags" Target="../tags/tag17.xml"/><Relationship Id="rId4" Type="http://schemas.openxmlformats.org/officeDocument/2006/relationships/tags" Target="../tags/tag18.xml"/><Relationship Id="rId5" Type="http://schemas.openxmlformats.org/officeDocument/2006/relationships/tags" Target="../tags/tag19.xml"/><Relationship Id="rId6" Type="http://schemas.openxmlformats.org/officeDocument/2006/relationships/tags" Target="../tags/tag20.xml"/><Relationship Id="rId7" Type="http://schemas.openxmlformats.org/officeDocument/2006/relationships/tags" Target="../tags/tag2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22.xml"/><Relationship Id="rId3" Type="http://schemas.openxmlformats.org/officeDocument/2006/relationships/tags" Target="../tags/tag23.xml"/><Relationship Id="rId4" Type="http://schemas.openxmlformats.org/officeDocument/2006/relationships/tags" Target="../tags/tag24.xml"/><Relationship Id="rId5" Type="http://schemas.openxmlformats.org/officeDocument/2006/relationships/tags" Target="../tags/tag25.xml"/><Relationship Id="rId6" Type="http://schemas.openxmlformats.org/officeDocument/2006/relationships/tags" Target="../tags/tag26.xml"/><Relationship Id="rId7" Type="http://schemas.openxmlformats.org/officeDocument/2006/relationships/tags" Target="../tags/tag27.xml"/><Relationship Id="rId8" Type="http://schemas.openxmlformats.org/officeDocument/2006/relationships/tags" Target="../tags/tag28.xml"/><Relationship Id="rId9" Type="http://schemas.openxmlformats.org/officeDocument/2006/relationships/tags" Target="../tags/tag2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0.xml"/><Relationship Id="rId3" Type="http://schemas.openxmlformats.org/officeDocument/2006/relationships/tags" Target="../tags/tag31.xml"/><Relationship Id="rId4" Type="http://schemas.openxmlformats.org/officeDocument/2006/relationships/tags" Target="../tags/tag32.xml"/><Relationship Id="rId5" Type="http://schemas.openxmlformats.org/officeDocument/2006/relationships/tags" Target="../tags/tag3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4.xml"/><Relationship Id="rId3" Type="http://schemas.openxmlformats.org/officeDocument/2006/relationships/tags" Target="../tags/tag35.xml"/><Relationship Id="rId4" Type="http://schemas.openxmlformats.org/officeDocument/2006/relationships/tags" Target="../tags/tag3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7.xml"/><Relationship Id="rId3" Type="http://schemas.openxmlformats.org/officeDocument/2006/relationships/tags" Target="../tags/tag38.xml"/><Relationship Id="rId4" Type="http://schemas.openxmlformats.org/officeDocument/2006/relationships/tags" Target="../tags/tag39.xml"/><Relationship Id="rId5" Type="http://schemas.openxmlformats.org/officeDocument/2006/relationships/tags" Target="../tags/tag40.xml"/><Relationship Id="rId6" Type="http://schemas.openxmlformats.org/officeDocument/2006/relationships/tags" Target="../tags/tag41.xml"/><Relationship Id="rId7" Type="http://schemas.openxmlformats.org/officeDocument/2006/relationships/tags" Target="../tags/tag4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3.xml"/><Relationship Id="rId3" Type="http://schemas.openxmlformats.org/officeDocument/2006/relationships/tags" Target="../tags/tag44.xml"/><Relationship Id="rId4" Type="http://schemas.openxmlformats.org/officeDocument/2006/relationships/tags" Target="../tags/tag45.xml"/><Relationship Id="rId5" Type="http://schemas.openxmlformats.org/officeDocument/2006/relationships/tags" Target="../tags/tag46.xml"/><Relationship Id="rId6" Type="http://schemas.openxmlformats.org/officeDocument/2006/relationships/tags" Target="../tags/tag47.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8.xml"/><Relationship Id="rId3" Type="http://schemas.openxmlformats.org/officeDocument/2006/relationships/tags" Target="../tags/tag49.xml"/><Relationship Id="rId4" Type="http://schemas.openxmlformats.org/officeDocument/2006/relationships/tags" Target="../tags/tag50.xml"/><Relationship Id="rId5" Type="http://schemas.openxmlformats.org/officeDocument/2006/relationships/tags" Target="../tags/tag5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52.xml"/><Relationship Id="rId3" Type="http://schemas.openxmlformats.org/officeDocument/2006/relationships/tags" Target="../tags/tag53.xml"/><Relationship Id="rId4" Type="http://schemas.openxmlformats.org/officeDocument/2006/relationships/tags" Target="../tags/tag54.xml"/><Relationship Id="rId5" Type="http://schemas.openxmlformats.org/officeDocument/2006/relationships/tags" Target="../tags/tag55.xml"/><Relationship Id="rId6" Type="http://schemas.openxmlformats.org/officeDocument/2006/relationships/tags" Target="../tags/tag5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页面">
    <p:spTree>
      <p:nvGrpSpPr>
        <p:cNvPr id="1" name=""/>
        <p:cNvGrpSpPr/>
        <p:nvPr/>
      </p:nvGrpSpPr>
      <p:grpSpPr>
        <a:xfrm>
          <a:off x="0" y="0"/>
          <a:ext cx="0" cy="0"/>
          <a:chOff x="0" y="0"/>
          <a:chExt cx="0" cy="0"/>
        </a:xfrm>
      </p:grpSpPr>
      <p:sp>
        <p:nvSpPr>
          <p:cNvPr id="190" name="文本占位符 2"/>
          <p:cNvSpPr>
            <a:spLocks noGrp="1"/>
          </p:cNvSpPr>
          <p:nvPr>
            <p:ph type="body" sz="quarter" idx="14" hasCustomPrompt="1"/>
          </p:nvPr>
        </p:nvSpPr>
        <p:spPr>
          <a:xfrm>
            <a:off x="251959" y="210182"/>
            <a:ext cx="7632700" cy="494036"/>
          </a:xfrm>
        </p:spPr>
        <p:txBody>
          <a:bodyPr>
            <a:noAutofit/>
          </a:bodyPr>
          <a:lstStyle>
            <a:lvl1pPr marL="0" indent="0">
              <a:lnSpc>
                <a:spcPct val="100000"/>
              </a:lnSpc>
              <a:spcBef>
                <a:spcPts val="0"/>
              </a:spcBef>
              <a:buNone/>
              <a:defRPr b="1">
                <a:latin typeface="微软雅黑" panose="020B0503020204020204" charset="-122"/>
                <a:ea typeface="微软雅黑" panose="020B0503020204020204" charset="-122"/>
              </a:defRPr>
            </a:lvl1pPr>
          </a:lstStyle>
          <a:p>
            <a:pPr lvl="0"/>
            <a:r>
              <a:rPr lang="zh-CN" altLang="en-US" dirty="0"/>
              <a:t>点击添加标题</a:t>
            </a:r>
            <a:endParaRPr lang="zh-CN" altLang="en-US" dirty="0"/>
          </a:p>
        </p:txBody>
      </p:sp>
      <p:sp>
        <p:nvSpPr>
          <p:cNvPr id="191" name="矩形 190"/>
          <p:cNvSpPr/>
          <p:nvPr userDrawn="1"/>
        </p:nvSpPr>
        <p:spPr>
          <a:xfrm>
            <a:off x="0" y="0"/>
            <a:ext cx="251959" cy="914400"/>
          </a:xfrm>
          <a:prstGeom prst="rect">
            <a:avLst/>
          </a:prstGeom>
          <a:solidFill>
            <a:srgbClr val="007D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2" cstate="screen"/>
          <a:stretch>
            <a:fillRect/>
          </a:stretch>
        </p:blipFill>
        <p:spPr>
          <a:xfrm>
            <a:off x="9564700" y="135082"/>
            <a:ext cx="2322496" cy="64423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ags" Target="../tags/tag57.xml"/><Relationship Id="rId14" Type="http://schemas.openxmlformats.org/officeDocument/2006/relationships/tags" Target="../tags/tag58.xml"/><Relationship Id="rId15" Type="http://schemas.openxmlformats.org/officeDocument/2006/relationships/tags" Target="../tags/tag59.xml"/><Relationship Id="rId16" Type="http://schemas.openxmlformats.org/officeDocument/2006/relationships/tags" Target="../tags/tag60.xml"/><Relationship Id="rId17" Type="http://schemas.openxmlformats.org/officeDocument/2006/relationships/tags" Target="../tags/tag61.xml"/><Relationship Id="rId18" Type="http://schemas.openxmlformats.org/officeDocument/2006/relationships/tags" Target="../tags/tag62.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占位符 3"/>
          <p:cNvSpPr>
            <a:spLocks noGrp="1"/>
          </p:cNvSpPr>
          <p:nvPr>
            <p:ph type="body" sz="quarter" idx="14"/>
          </p:nvPr>
        </p:nvSpPr>
        <p:spPr/>
        <p:txBody>
          <a:bodyPr/>
          <a:p>
            <a:r>
              <a:rPr sz="2800">
                <a:solidFill>
                  <a:schemeClr val="tx1"/>
                </a:solidFill>
              </a:rPr>
              <a:t>龙湖物业服务集团岗位外包案例</a:t>
            </a:r>
            <a:endParaRPr lang="en-US" altLang="zh-CN" sz="2800">
              <a:solidFill>
                <a:schemeClr val="tx1"/>
              </a:solidFill>
            </a:endParaRPr>
          </a:p>
        </p:txBody>
      </p:sp>
      <p:sp>
        <p:nvSpPr>
          <p:cNvPr id="3" name="灯片编号占位符 2"/>
          <p:cNvSpPr>
            <a:spLocks noGrp="1"/>
          </p:cNvSpPr>
          <p:nvPr>
            <p:ph type="sldNum" sz="quarter" idx="4294967295"/>
          </p:nvPr>
        </p:nvSpPr>
        <p:spPr>
          <a:xfrm>
            <a:off x="9448800" y="6356350"/>
            <a:ext cx="2743200" cy="365125"/>
          </a:xfrm>
        </p:spPr>
        <p:txBody>
          <a:bodyPr/>
          <a:p>
            <a:fld id="{7D9BB5D0-35E4-459D-AEF3-FE4D7C45CC19}" type="slidenum">
              <a:rPr lang="zh-CN" altLang="en-US" smtClean="0"/>
            </a:fld>
            <a:endParaRPr lang="zh-CN" altLang="en-US"/>
          </a:p>
        </p:txBody>
      </p:sp>
      <p:sp>
        <p:nvSpPr>
          <p:cNvPr id="6" name="Title 7"/>
          <p:cNvSpPr txBox="1"/>
          <p:nvPr/>
        </p:nvSpPr>
        <p:spPr>
          <a:xfrm>
            <a:off x="557188" y="3296218"/>
            <a:ext cx="3204846" cy="813600"/>
          </a:xfrm>
          <a:prstGeom prst="rect">
            <a:avLst/>
          </a:prstGeom>
        </p:spPr>
        <p:txBody>
          <a:bodyPr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br>
              <a:rPr lang="en-US" altLang="zh-CN" sz="1600" dirty="0">
                <a:latin typeface="微软雅黑" panose="020B0503020204020204" charset="-122"/>
                <a:ea typeface="微软雅黑" panose="020B0503020204020204" charset="-122"/>
                <a:cs typeface="Calibri" panose="020F0502020204030204" charset="0"/>
              </a:rPr>
            </a:br>
            <a:endParaRPr lang="en-US" sz="1800" dirty="0">
              <a:latin typeface="微软雅黑" panose="020B0503020204020204" charset="-122"/>
              <a:ea typeface="微软雅黑" panose="020B0503020204020204" charset="-122"/>
              <a:cs typeface="Calibri" panose="020F0502020204030204" charset="0"/>
            </a:endParaRPr>
          </a:p>
        </p:txBody>
      </p:sp>
      <p:sp>
        <p:nvSpPr>
          <p:cNvPr id="11" name="Content Placeholder 9"/>
          <p:cNvSpPr txBox="1"/>
          <p:nvPr/>
        </p:nvSpPr>
        <p:spPr>
          <a:xfrm>
            <a:off x="212090" y="4386580"/>
            <a:ext cx="3787775" cy="37211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600" b="1" dirty="0">
                <a:solidFill>
                  <a:srgbClr val="0082BE"/>
                </a:solidFill>
                <a:latin typeface="微软雅黑" panose="020B0503020204020204" charset="-122"/>
                <a:ea typeface="微软雅黑" panose="020B0503020204020204" charset="-122"/>
                <a:cs typeface="Calibri" panose="020F0502020204030204" charset="0"/>
              </a:rPr>
              <a:t>项目背景：</a:t>
            </a:r>
            <a:endParaRPr lang="zh-CN" altLang="en-US" sz="1600" b="1" dirty="0">
              <a:solidFill>
                <a:srgbClr val="0082BE"/>
              </a:solidFill>
              <a:latin typeface="微软雅黑" panose="020B0503020204020204" charset="-122"/>
              <a:ea typeface="微软雅黑" panose="020B0503020204020204" charset="-122"/>
              <a:cs typeface="Calibri" panose="020F0502020204030204" charset="0"/>
            </a:endParaRPr>
          </a:p>
          <a:p>
            <a:pPr marL="0" indent="0">
              <a:buNone/>
            </a:pPr>
            <a:endParaRPr lang="en-US" altLang="zh-CN" sz="1200" kern="100" dirty="0">
              <a:solidFill>
                <a:schemeClr val="tx1">
                  <a:lumMod val="85000"/>
                  <a:lumOff val="15000"/>
                </a:schemeClr>
              </a:solidFill>
              <a:latin typeface="微软雅黑" panose="020B0503020204020204" charset="-122"/>
              <a:ea typeface="微软雅黑" panose="020B0503020204020204" charset="-122"/>
              <a:cs typeface="Times New Roman" panose="02020603050405020304" pitchFamily="18" charset="0"/>
            </a:endParaRPr>
          </a:p>
        </p:txBody>
      </p:sp>
      <p:sp>
        <p:nvSpPr>
          <p:cNvPr id="12" name="Content Placeholder 10"/>
          <p:cNvSpPr txBox="1"/>
          <p:nvPr/>
        </p:nvSpPr>
        <p:spPr>
          <a:xfrm>
            <a:off x="4134485" y="935355"/>
            <a:ext cx="7640320" cy="51054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7800" lvl="1" indent="0" algn="just" fontAlgn="base">
              <a:lnSpc>
                <a:spcPct val="150000"/>
              </a:lnSpc>
              <a:buFont typeface="Wingdings" panose="05000000000000000000" pitchFamily="2" charset="2"/>
              <a:buNone/>
              <a:defRPr/>
            </a:pPr>
            <a:r>
              <a:rPr lang="zh-CN" altLang="en-US" sz="1600" b="1" dirty="0">
                <a:solidFill>
                  <a:srgbClr val="0082BE"/>
                </a:solidFill>
                <a:latin typeface="微软雅黑" panose="020B0503020204020204" charset="-122"/>
                <a:ea typeface="微软雅黑" panose="020B0503020204020204" charset="-122"/>
                <a:cs typeface="Calibri" panose="020F0502020204030204" charset="0"/>
              </a:rPr>
              <a:t>项目挑战</a:t>
            </a:r>
            <a:endParaRPr lang="zh-CN" altLang="en-US" sz="1600" b="1" dirty="0">
              <a:solidFill>
                <a:srgbClr val="0082BE"/>
              </a:solidFill>
              <a:latin typeface="微软雅黑" panose="020B0503020204020204" charset="-122"/>
              <a:ea typeface="微软雅黑" panose="020B0503020204020204" charset="-122"/>
              <a:cs typeface="Calibri" panose="020F0502020204030204" charset="0"/>
            </a:endParaRPr>
          </a:p>
          <a:p>
            <a:pPr marL="177800" lvl="1" indent="0" algn="just" fontAlgn="base">
              <a:lnSpc>
                <a:spcPct val="150000"/>
              </a:lnSpc>
              <a:buFont typeface="Wingdings" panose="05000000000000000000" pitchFamily="2" charset="2"/>
              <a:buNone/>
              <a:defRPr/>
            </a:pPr>
            <a:endParaRPr lang="en-US" altLang="zh-CN" sz="1200" dirty="0">
              <a:solidFill>
                <a:schemeClr val="tx1">
                  <a:lumMod val="85000"/>
                  <a:lumOff val="15000"/>
                </a:schemeClr>
              </a:solidFill>
              <a:latin typeface="微软雅黑" panose="020B0503020204020204" charset="-122"/>
              <a:ea typeface="微软雅黑" panose="020B0503020204020204" charset="-122"/>
            </a:endParaRPr>
          </a:p>
        </p:txBody>
      </p:sp>
      <p:sp>
        <p:nvSpPr>
          <p:cNvPr id="25" name="Rectangle 1"/>
          <p:cNvSpPr/>
          <p:nvPr/>
        </p:nvSpPr>
        <p:spPr>
          <a:xfrm>
            <a:off x="4274023" y="4757980"/>
            <a:ext cx="7676242" cy="1806592"/>
          </a:xfrm>
          <a:prstGeom prst="rect">
            <a:avLst/>
          </a:prstGeom>
          <a:solidFill>
            <a:srgbClr val="0082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0" normalizeH="0" baseline="0" noProof="0" dirty="0">
              <a:ln>
                <a:noFill/>
              </a:ln>
              <a:solidFill>
                <a:sysClr val="window" lastClr="FFFFFF"/>
              </a:solidFill>
              <a:effectLst/>
              <a:uLnTx/>
              <a:uFillTx/>
              <a:latin typeface="微软雅黑" panose="020B0503020204020204" charset="-122"/>
              <a:ea typeface="微软雅黑" panose="020B0503020204020204" charset="-122"/>
              <a:cs typeface="+mn-cs"/>
            </a:endParaRPr>
          </a:p>
        </p:txBody>
      </p:sp>
      <p:sp>
        <p:nvSpPr>
          <p:cNvPr id="26" name="矩形 25"/>
          <p:cNvSpPr/>
          <p:nvPr/>
        </p:nvSpPr>
        <p:spPr>
          <a:xfrm>
            <a:off x="212065" y="895630"/>
            <a:ext cx="3923206" cy="5668942"/>
          </a:xfrm>
          <a:prstGeom prst="rect">
            <a:avLst/>
          </a:prstGeom>
          <a:noFill/>
          <a:ln w="28575">
            <a:solidFill>
              <a:srgbClr val="0082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ndParaRPr>
          </a:p>
        </p:txBody>
      </p:sp>
      <p:sp>
        <p:nvSpPr>
          <p:cNvPr id="27" name="矩形 26"/>
          <p:cNvSpPr/>
          <p:nvPr/>
        </p:nvSpPr>
        <p:spPr>
          <a:xfrm>
            <a:off x="4274023" y="895630"/>
            <a:ext cx="7676242" cy="5668942"/>
          </a:xfrm>
          <a:prstGeom prst="rect">
            <a:avLst/>
          </a:prstGeom>
          <a:noFill/>
          <a:ln w="28575">
            <a:solidFill>
              <a:srgbClr val="0082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ndParaRPr>
          </a:p>
        </p:txBody>
      </p:sp>
      <p:sp>
        <p:nvSpPr>
          <p:cNvPr id="28" name="Content Placeholder 10"/>
          <p:cNvSpPr txBox="1"/>
          <p:nvPr/>
        </p:nvSpPr>
        <p:spPr>
          <a:xfrm>
            <a:off x="3951605" y="2853690"/>
            <a:ext cx="7670165" cy="4959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5600" lvl="1" indent="0" algn="l" fontAlgn="base">
              <a:lnSpc>
                <a:spcPct val="125000"/>
              </a:lnSpc>
              <a:buFont typeface="Wingdings" panose="05000000000000000000" pitchFamily="2" charset="2"/>
              <a:buNone/>
              <a:defRPr/>
            </a:pPr>
            <a:r>
              <a:rPr lang="zh-CN" altLang="en-US" sz="1600" b="1" dirty="0">
                <a:solidFill>
                  <a:srgbClr val="0082BE"/>
                </a:solidFill>
                <a:latin typeface="微软雅黑" panose="020B0503020204020204" charset="-122"/>
                <a:ea typeface="微软雅黑" panose="020B0503020204020204" charset="-122"/>
                <a:cs typeface="Calibri" panose="020F0502020204030204" charset="0"/>
                <a:sym typeface="+mn-ea"/>
              </a:rPr>
              <a:t>解决方案</a:t>
            </a:r>
            <a:endParaRPr lang="zh-CN" altLang="en-US" sz="1200" noProof="0" dirty="0">
              <a:ln>
                <a:noFill/>
              </a:ln>
              <a:solidFill>
                <a:schemeClr val="tx1"/>
              </a:solidFill>
              <a:effectLst/>
              <a:uLnTx/>
              <a:uFillTx/>
              <a:latin typeface="微软雅黑" panose="020B0503020204020204" charset="-122"/>
              <a:ea typeface="微软雅黑" panose="020B0503020204020204" charset="-122"/>
              <a:cs typeface="Calibri" panose="020F0502020204030204" charset="0"/>
              <a:sym typeface="+mn-ea"/>
            </a:endParaRPr>
          </a:p>
          <a:p>
            <a:pPr marL="177800" lvl="1" indent="0" algn="just" fontAlgn="base">
              <a:lnSpc>
                <a:spcPct val="150000"/>
              </a:lnSpc>
              <a:buFont typeface="Wingdings" panose="05000000000000000000" pitchFamily="2" charset="2"/>
              <a:buNone/>
              <a:defRPr/>
            </a:pPr>
            <a:endParaRPr lang="en-US" altLang="zh-CN" sz="1200" dirty="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2" name="Title 7"/>
          <p:cNvSpPr txBox="1"/>
          <p:nvPr/>
        </p:nvSpPr>
        <p:spPr>
          <a:xfrm>
            <a:off x="503555" y="3171190"/>
            <a:ext cx="3204845" cy="467360"/>
          </a:xfrm>
          <a:prstGeom prst="rect">
            <a:avLst/>
          </a:prstGeom>
        </p:spPr>
        <p:txBody>
          <a:bodyPr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sz="2000" b="1">
                <a:latin typeface="微软雅黑"/>
              </a:rPr>
              <a:t>龙湖物业服务集团</a:t>
            </a:r>
            <a:endParaRPr lang="en-US" altLang="zh-CN" sz="2000" b="1" dirty="0">
              <a:latin typeface="微软雅黑" panose="020B0503020204020204" charset="-122"/>
              <a:ea typeface="微软雅黑" panose="020B0503020204020204" charset="-122"/>
              <a:cs typeface="Calibri" panose="020F0502020204030204" charset="0"/>
            </a:endParaRPr>
          </a:p>
        </p:txBody>
      </p:sp>
      <p:sp>
        <p:nvSpPr>
          <p:cNvPr id="5" name="文本框 4"/>
          <p:cNvSpPr txBox="1"/>
          <p:nvPr/>
        </p:nvSpPr>
        <p:spPr>
          <a:xfrm>
            <a:off x="4309110" y="4906010"/>
            <a:ext cx="7606030" cy="323850"/>
          </a:xfrm>
          <a:prstGeom prst="rect">
            <a:avLst/>
          </a:prstGeom>
          <a:noFill/>
        </p:spPr>
        <p:txBody>
          <a:bodyPr wrap="square" rtlCol="0"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Calibri" panose="020F0502020204030204" charset="0"/>
              </a:rPr>
              <a:t>项目成果</a:t>
            </a:r>
            <a:endParaRPr kumimoji="0" lang="zh-CN" altLang="en-US" sz="16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Calibri" panose="020F0502020204030204" charset="0"/>
            </a:endParaRPr>
          </a:p>
          <a:p>
            <a:pPr lvl="0" indent="0">
              <a:spcBef>
                <a:spcPts val="500"/>
              </a:spcBef>
              <a:buClr>
                <a:sysClr val="window" lastClr="FFFFFF"/>
              </a:buClr>
              <a:buFont typeface="Wingdings" panose="05000000000000000000" pitchFamily="2" charset="2"/>
              <a:buNone/>
              <a:defRPr/>
            </a:pPr>
            <a:endParaRPr lang="en-US" altLang="zh-CN" sz="1600" noProof="0" dirty="0">
              <a:ln>
                <a:noFill/>
              </a:ln>
              <a:solidFill>
                <a:prstClr val="white"/>
              </a:solidFill>
              <a:effectLst/>
              <a:uLnTx/>
              <a:uFillTx/>
              <a:latin typeface="微软雅黑" panose="020B0503020204020204" charset="-122"/>
              <a:ea typeface="微软雅黑" panose="020B0503020204020204" charset="-122"/>
              <a:cs typeface="Calibri" panose="020F0502020204030204" charset="0"/>
              <a:sym typeface="+mn-ea"/>
            </a:endParaRPr>
          </a:p>
        </p:txBody>
      </p:sp>
      <p:sp>
        <p:nvSpPr>
          <p:cNvPr id="8" name="文本框 7"/>
          <p:cNvSpPr txBox="1"/>
          <p:nvPr/>
        </p:nvSpPr>
        <p:spPr>
          <a:xfrm>
            <a:off x="1249045" y="2054860"/>
            <a:ext cx="1820545" cy="368300"/>
          </a:xfrm>
          <a:prstGeom prst="rect">
            <a:avLst/>
          </a:prstGeom>
          <a:noFill/>
        </p:spPr>
        <p:txBody>
          <a:bodyPr wrap="square" rtlCol="0">
            <a:spAutoFit/>
          </a:bodyPr>
          <a:p>
            <a:r>
              <a:rPr lang="en-US" altLang="zh-CN"/>
              <a:t>{{image:logo}}</a:t>
            </a:r>
            <a:endParaRPr lang="en-US" altLang="zh-CN"/>
          </a:p>
        </p:txBody>
      </p:sp>
      <p:sp>
        <p:nvSpPr>
          <p:cNvPr id="9" name="文本框 8"/>
          <p:cNvSpPr txBox="1"/>
          <p:nvPr/>
        </p:nvSpPr>
        <p:spPr>
          <a:xfrm>
            <a:off x="313055" y="4845050"/>
            <a:ext cx="3639185" cy="1511935"/>
          </a:xfrm>
          <a:prstGeom prst="rect">
            <a:avLst/>
          </a:prstGeom>
          <a:noFill/>
        </p:spPr>
        <p:txBody>
          <a:bodyPr wrap="square" rtlCol="0">
            <a:noAutofit/>
          </a:bodyPr>
          <a:p>
            <a:r>
              <a:rPr sz="1200">
                <a:solidFill>
                  <a:schemeClr val="tx1">
                    <a:lumMod val="85000"/>
                    <a:lumOff val="15000"/>
                  </a:schemeClr>
                </a:solidFill>
                <a:latin typeface="微软雅黑"/>
              </a:rPr>
              <a:t>龙湖物业服务集团公司成立于1997年，是龙湖集团控股子公司。龙湖集团1995年成立于重庆，现正在全国进行集团化发展，目前有重庆龙湖、成都龙湖和北京龙湖、西安龙湖和上海龙湖五个地区公司以及各地区公司下属的物业管理公司和商业管理公司。获取商机后，第一时间跟进项目招标流程，最终成功中标。</a:t>
            </a:r>
            <a:endParaRPr lang="en-US" altLang="zh-CN" sz="1200" kern="100" dirty="0">
              <a:solidFill>
                <a:schemeClr val="tx1">
                  <a:lumMod val="85000"/>
                  <a:lumOff val="15000"/>
                </a:schemeClr>
              </a:solidFill>
              <a:latin typeface="微软雅黑" panose="020B0503020204020204" charset="-122"/>
              <a:ea typeface="微软雅黑" panose="020B0503020204020204" charset="-122"/>
              <a:cs typeface="Times New Roman" panose="02020603050405020304" pitchFamily="18" charset="0"/>
            </a:endParaRPr>
          </a:p>
          <a:p>
            <a:endParaRPr lang="zh-CN" altLang="en-US" sz="1200"/>
          </a:p>
        </p:txBody>
      </p:sp>
      <p:sp>
        <p:nvSpPr>
          <p:cNvPr id="10" name="文本框 9"/>
          <p:cNvSpPr txBox="1"/>
          <p:nvPr/>
        </p:nvSpPr>
        <p:spPr>
          <a:xfrm>
            <a:off x="4274185" y="1312545"/>
            <a:ext cx="7314565" cy="1238250"/>
          </a:xfrm>
          <a:prstGeom prst="rect">
            <a:avLst/>
          </a:prstGeom>
          <a:noFill/>
        </p:spPr>
        <p:txBody>
          <a:bodyPr wrap="square" rtlCol="0">
            <a:noAutofit/>
          </a:bodyPr>
          <a:p>
            <a:pPr marL="171450" lvl="1" indent="-171450" fontAlgn="auto">
              <a:lnSpc>
                <a:spcPct val="150000"/>
              </a:lnSpc>
              <a:buFont typeface="Arial" panose="020B0604020202020204" pitchFamily="34" charset="0"/>
              <a:buChar char="•"/>
            </a:pPr>
            <a:r>
              <a:rPr sz="1200">
                <a:solidFill>
                  <a:schemeClr val="tx1">
                    <a:lumMod val="85000"/>
                    <a:lumOff val="15000"/>
                  </a:schemeClr>
                </a:solidFill>
                <a:latin typeface="微软雅黑"/>
              </a:rPr>
              <a:t>项目整体人力编制10000人，招标转移的人数2900人。业务前期人员流动性大，人事事务性工作繁琐，且用人合规要求高</a:t>
            </a:r>
            <a:endParaRPr lang="en-US" altLang="zh-CN" sz="1200" dirty="0">
              <a:solidFill>
                <a:schemeClr val="tx1">
                  <a:lumMod val="85000"/>
                  <a:lumOff val="15000"/>
                </a:schemeClr>
              </a:solidFill>
              <a:latin typeface="微软雅黑" panose="020B0503020204020204" charset="-122"/>
              <a:ea typeface="微软雅黑" panose="020B0503020204020204" charset="-122"/>
              <a:sym typeface="+mn-ea"/>
            </a:endParaRPr>
          </a:p>
          <a:p>
            <a:pPr marL="171450" lvl="1" indent="-171450" fontAlgn="auto">
              <a:lnSpc>
                <a:spcPct val="150000"/>
              </a:lnSpc>
              <a:buFont typeface="Arial" panose="020B0604020202020204" pitchFamily="34" charset="0"/>
              <a:buChar char="•"/>
            </a:pPr>
            <a:r>
              <a:rPr sz="1200">
                <a:solidFill>
                  <a:schemeClr val="tx1">
                    <a:lumMod val="85000"/>
                    <a:lumOff val="15000"/>
                  </a:schemeClr>
                </a:solidFill>
                <a:latin typeface="微软雅黑"/>
              </a:rPr>
              <a:t>亟需找寻优质供应商协助龙湖完成人员用工关系的承接，同时做好入离职、社保公积金、员工关系等日常服务</a:t>
            </a:r>
          </a:p>
          <a:p>
            <a:pPr marL="171450" lvl="1" indent="-171450" fontAlgn="auto">
              <a:lnSpc>
                <a:spcPct val="150000"/>
              </a:lnSpc>
              <a:buFont typeface="Arial" panose="020B0604020202020204" pitchFamily="34" charset="0"/>
              <a:buChar char="•"/>
            </a:pPr>
            <a:r>
              <a:rPr sz="1200">
                <a:solidFill>
                  <a:schemeClr val="tx1">
                    <a:lumMod val="85000"/>
                    <a:lumOff val="15000"/>
                  </a:schemeClr>
                </a:solidFill>
                <a:latin typeface="微软雅黑"/>
              </a:rPr>
              <a:t>项目涉及城市多（成都、重庆、云南、贵州、东北三省、福建省）</a:t>
            </a:r>
          </a:p>
          <a:p>
            <a:pPr marL="171450" lvl="1" indent="-171450" fontAlgn="auto">
              <a:lnSpc>
                <a:spcPct val="150000"/>
              </a:lnSpc>
              <a:buFont typeface="Wingdings" panose="05000000000000000000" charset="0"/>
              <a:buChar char="n"/>
            </a:pPr>
            <a:endParaRPr lang="en-US" altLang="zh-CN" sz="1200" dirty="0">
              <a:solidFill>
                <a:schemeClr val="tx1">
                  <a:lumMod val="85000"/>
                  <a:lumOff val="15000"/>
                </a:schemeClr>
              </a:solidFill>
              <a:latin typeface="微软雅黑" panose="020B0503020204020204" charset="-122"/>
              <a:ea typeface="微软雅黑" panose="020B0503020204020204" charset="-122"/>
            </a:endParaRPr>
          </a:p>
          <a:p>
            <a:pPr fontAlgn="auto">
              <a:lnSpc>
                <a:spcPct val="150000"/>
              </a:lnSpc>
            </a:pPr>
            <a:endParaRPr lang="zh-CN" altLang="en-US" sz="1200"/>
          </a:p>
        </p:txBody>
      </p:sp>
      <p:sp>
        <p:nvSpPr>
          <p:cNvPr id="13" name="文本框 12"/>
          <p:cNvSpPr txBox="1"/>
          <p:nvPr/>
        </p:nvSpPr>
        <p:spPr>
          <a:xfrm>
            <a:off x="4379595" y="3159760"/>
            <a:ext cx="7437120" cy="1465580"/>
          </a:xfrm>
          <a:prstGeom prst="rect">
            <a:avLst/>
          </a:prstGeom>
          <a:noFill/>
        </p:spPr>
        <p:txBody>
          <a:bodyPr wrap="square" rtlCol="0">
            <a:noAutofit/>
          </a:bodyPr>
          <a:p>
            <a:pPr marL="171450" lvl="1" indent="-171450" fontAlgn="auto">
              <a:lnSpc>
                <a:spcPct val="150000"/>
              </a:lnSpc>
              <a:buFont typeface="Arial" panose="020B0604020202020204" pitchFamily="34" charset="0"/>
              <a:buChar char="•"/>
            </a:pPr>
            <a:r>
              <a:rPr sz="1200">
                <a:latin typeface="微软雅黑"/>
              </a:rPr>
              <a:t>了解到项目情况后，大瀚第一时间组建前期商务公关团队，经过多轮沟通，获得客户认可，成功入围本次项目招标</a:t>
            </a:r>
            <a:endParaRPr lang="en-US" altLang="zh-CN" sz="1200">
              <a:latin typeface="微软雅黑" panose="020B0503020204020204" charset="-122"/>
              <a:ea typeface="微软雅黑" panose="020B0503020204020204" charset="-122"/>
            </a:endParaRPr>
          </a:p>
          <a:p>
            <a:pPr marL="171450" lvl="1" indent="-171450" fontAlgn="auto">
              <a:lnSpc>
                <a:spcPct val="150000"/>
              </a:lnSpc>
              <a:buFont typeface="Arial" panose="020B0604020202020204" pitchFamily="34" charset="0"/>
              <a:buChar char="•"/>
            </a:pPr>
            <a:r>
              <a:rPr sz="1200">
                <a:latin typeface="微软雅黑"/>
              </a:rPr>
              <a:t>经过前期的仔细沟通以及对招标文件的认真研究，大瀚凭借多年的服务经验以及领先的平台优势成为第一中标候选人</a:t>
            </a:r>
          </a:p>
          <a:p>
            <a:pPr marL="171450" lvl="1" indent="-171450" fontAlgn="auto">
              <a:lnSpc>
                <a:spcPct val="150000"/>
              </a:lnSpc>
              <a:buFont typeface="Arial" panose="020B0604020202020204" pitchFamily="34" charset="0"/>
              <a:buChar char="•"/>
            </a:pPr>
            <a:r>
              <a:rPr sz="1200">
                <a:latin typeface="微软雅黑"/>
              </a:rPr>
              <a:t>大瀚组建专项服务团队，目前在项人力已突破1000人，预计明年突破3000人</a:t>
            </a:r>
          </a:p>
          <a:p>
            <a:pPr marL="171450" lvl="1" indent="-171450" fontAlgn="auto">
              <a:lnSpc>
                <a:spcPct val="150000"/>
              </a:lnSpc>
              <a:buFont typeface="Wingdings" panose="05000000000000000000" charset="0"/>
              <a:buChar char="n"/>
            </a:pPr>
            <a:endParaRPr lang="en-US" altLang="zh-CN" sz="1200">
              <a:latin typeface="微软雅黑" panose="020B0503020204020204" charset="-122"/>
              <a:ea typeface="微软雅黑" panose="020B0503020204020204" charset="-122"/>
            </a:endParaRPr>
          </a:p>
        </p:txBody>
      </p:sp>
      <p:sp>
        <p:nvSpPr>
          <p:cNvPr id="14" name="文本框 13"/>
          <p:cNvSpPr txBox="1"/>
          <p:nvPr/>
        </p:nvSpPr>
        <p:spPr>
          <a:xfrm>
            <a:off x="4318635" y="5229860"/>
            <a:ext cx="7571105" cy="1060450"/>
          </a:xfrm>
          <a:prstGeom prst="rect">
            <a:avLst/>
          </a:prstGeom>
          <a:noFill/>
        </p:spPr>
        <p:txBody>
          <a:bodyPr wrap="square" rtlCol="0">
            <a:spAutoFit/>
          </a:bodyPr>
          <a:p>
            <a:pPr marL="285750" indent="-285750" fontAlgn="auto">
              <a:lnSpc>
                <a:spcPct val="150000"/>
              </a:lnSpc>
              <a:buFont typeface="Arial" panose="020B0604020202020204" pitchFamily="34" charset="0"/>
              <a:buChar char="•"/>
            </a:pPr>
            <a:r>
              <a:rPr sz="1400">
                <a:solidFill>
                  <a:schemeClr/>
                </a:solidFill>
                <a:latin typeface="微软雅黑"/>
              </a:rPr>
              <a:t>通过本次合作，进一步拓展龙湖物业服务集团项目合作</a:t>
            </a:r>
            <a:endParaRPr lang="en-US" altLang="zh-CN" sz="1400" noProof="0" dirty="0">
              <a:ln>
                <a:noFill/>
              </a:ln>
              <a:solidFill>
                <a:prstClr val="white"/>
              </a:solidFill>
              <a:effectLst/>
              <a:uLnTx/>
              <a:uFillTx/>
              <a:latin typeface="微软雅黑" panose="020B0503020204020204" charset="-122"/>
              <a:ea typeface="微软雅黑" panose="020B0503020204020204" charset="-122"/>
              <a:cs typeface="Calibri" panose="020F0502020204030204" charset="0"/>
              <a:sym typeface="+mn-ea"/>
            </a:endParaRPr>
          </a:p>
          <a:p>
            <a:pPr marL="285750" indent="-285750" fontAlgn="auto">
              <a:lnSpc>
                <a:spcPct val="150000"/>
              </a:lnSpc>
              <a:buFont typeface="Arial" panose="020B0604020202020204" pitchFamily="34" charset="0"/>
              <a:buChar char="•"/>
            </a:pPr>
            <a:r>
              <a:rPr sz="1400">
                <a:solidFill>
                  <a:schemeClr/>
                </a:solidFill>
                <a:latin typeface="微软雅黑"/>
              </a:rPr>
              <a:t>作为龙湖集团板块新进供应商，大瀚通过优质的服务，进一步深化了与龙湖的合作，成为了真正意义上的综合型人力资源供应商</a:t>
            </a:r>
          </a:p>
          <a:p>
            <a:pPr marL="285750" indent="-285750" fontAlgn="auto">
              <a:lnSpc>
                <a:spcPct val="150000"/>
              </a:lnSpc>
              <a:buFont typeface="Wingdings" panose="05000000000000000000" charset="0"/>
              <a:buChar char="n"/>
            </a:pPr>
            <a:endParaRPr lang="en-US" altLang="zh-CN" sz="1400" noProof="0" dirty="0">
              <a:ln>
                <a:noFill/>
              </a:ln>
              <a:solidFill>
                <a:prstClr val="white"/>
              </a:solidFill>
              <a:effectLst/>
              <a:uLnTx/>
              <a:uFillTx/>
              <a:latin typeface="微软雅黑" panose="020B0503020204020204" charset="-122"/>
              <a:ea typeface="微软雅黑" panose="020B0503020204020204" charset="-122"/>
              <a:cs typeface="Calibri" panose="020F0502020204030204" charset="0"/>
              <a:sym typeface="+mn-ea"/>
            </a:endParaRPr>
          </a:p>
          <a:p>
            <a:pPr fontAlgn="auto">
              <a:lnSpc>
                <a:spcPct val="150000"/>
              </a:lnSpc>
            </a:pPr>
            <a:endParaRPr lang="zh-CN" altLang="en-US" sz="1400"/>
          </a:p>
        </p:txBody>
      </p:sp>
      <p:sp>
        <p:nvSpPr>
          <p:cNvPr id="15" name="文本框 14"/>
          <p:cNvSpPr txBox="1"/>
          <p:nvPr/>
        </p:nvSpPr>
        <p:spPr>
          <a:xfrm>
            <a:off x="212090" y="3611245"/>
            <a:ext cx="3825875" cy="337185"/>
          </a:xfrm>
          <a:prstGeom prst="rect">
            <a:avLst/>
          </a:prstGeom>
          <a:noFill/>
        </p:spPr>
        <p:txBody>
          <a:bodyPr wrap="square" rtlCol="0">
            <a:spAutoFit/>
          </a:bodyPr>
          <a:p>
            <a:pPr algn="ctr"/>
            <a:endParaRPr lang="en-US" altLang="zh-CN" sz="1600">
              <a:latin typeface="微软雅黑" panose="020B0503020204020204" charset="-122"/>
              <a:ea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141</Words>
  <Application>WPS 演示</Application>
  <PresentationFormat>宽屏</PresentationFormat>
  <Paragraphs>38</Paragraphs>
  <Slides>1</Slides>
  <Notes>4</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vt:i4>
      </vt:variant>
    </vt:vector>
  </HeadingPairs>
  <TitlesOfParts>
    <vt:vector size="14" baseType="lpstr">
      <vt:lpstr>Arial</vt:lpstr>
      <vt:lpstr>宋体</vt:lpstr>
      <vt:lpstr>Wingdings</vt:lpstr>
      <vt:lpstr>Wingdings</vt:lpstr>
      <vt:lpstr>微软雅黑</vt:lpstr>
      <vt:lpstr>思源黑体 CN Normal</vt:lpstr>
      <vt:lpstr>黑体</vt:lpstr>
      <vt:lpstr>Calibri</vt:lpstr>
      <vt:lpstr>Times New Roman</vt:lpstr>
      <vt:lpstr>Arial Unicode MS</vt:lpstr>
      <vt:lpstr>Consolas</vt:lpstr>
      <vt:lpstr>思源黑体 CN Normal</vt:lpstr>
      <vt:lpstr>WPS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崔文宇</cp:lastModifiedBy>
  <cp:revision>169</cp:revision>
  <dcterms:created xsi:type="dcterms:W3CDTF">2019-06-19T02:08:00Z</dcterms:created>
  <dcterms:modified xsi:type="dcterms:W3CDTF">2026-03-25T06:38:15Z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78107EB323004E479DD7E87F47484B2F_11</vt:lpwstr>
  </property>
</Properties>
</file>